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5392" y="2381250"/>
            <a:ext cx="9721215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5150" y="3303240"/>
            <a:ext cx="5981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38BDF8"/>
                </a:solidFill>
                <a:latin typeface="Inter"/>
              </a:rPr>
              <a:t>Linked Lists: Dynamic Memory &amp; Pointers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4171801"/>
            <a:ext cx="2314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Module 3 | BSIT 2nd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1995"/>
            <a:ext cx="53244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441995"/>
            <a:ext cx="559069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Beyond Static Contiguity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952476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This module bridges the gap between static memory management and flexible runtime data organization.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691556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Dynamic Execution: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Utilize pointer variables for direct address manipulation on the Heap.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392537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Abstract Architecture: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Construct Singly Linked Lists utilizing self-referential structures.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093517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Algorithmic Operations: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Execute robust pointer linking strategies for node insertion, traversal, and safe deletion.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451520"/>
            <a:ext cx="5305425" cy="4552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691556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392537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093517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Lesson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8225" y="1441995"/>
            <a:ext cx="10572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LO1: Analyze Dynamic Memory Mechanics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Demonstrate understanding of memory architecture, pointer dereferencing, dynamic functions (malloc, free), and rigorous memory leak prevention.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" y="2493466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LO2: Construct Self-Referential Structures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Design robust node models using structs and self-referential pointers, correctly establishing head/tail tracking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3270646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LO3: Execute Advanced Singly Linked List Operations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Synthesize algorithmic logic for multi-scenario node insertion (head, middle, tail) and edge-case-safe node deletion.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70570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22041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99221"/>
            <a:ext cx="2857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Learning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18295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Stack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318295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Heap Memory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775370"/>
            <a:ext cx="4476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800" y="2933551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Allocation: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Automatic, compile-time/runtime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36024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Lifetime: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Scoped strictly to function context; cleared on return.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6122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Structure: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Fixed size, contiguous, highly structured (LIFO).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762202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Speed: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Fast execution via hardware registers.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775370"/>
            <a:ext cx="447675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2275" y="2933551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Allocation: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Manual, explicit runtime request by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36024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Lifetime: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Persistent until explicitly freed or program exit.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406122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Structure: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Large flexible pool, non-contiguous block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4762202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Speed: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Slightly slower access via pointer dereferencing.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93355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36024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06122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762202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93355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36024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406122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762202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Memory Architecture: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Stack vs. 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Core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 pointer is a variable whose stored value is the hexadecimal memory address of another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873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Address-of Operator (&amp;):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Retrieves the exact memory location in 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97312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Dereference Operator (*):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Accesses or modifies the actual data stored at the memory address.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45892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Null Pointer: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Initialized to NULL (or nullptr) to explicitly point to zero/invalid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C/C++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Pointer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Dynamic Management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Functions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921966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Runtime allocation functions manage heap memory when variable sizes cannot be predetermined: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386857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CBD5E1"/>
                </a:solidFill>
                <a:latin typeface="Inter"/>
              </a:rPr>
              <a:t>Critical Step: Always check if malloc returns NULL to prevent crashes.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276486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765821"/>
            <a:ext cx="5086350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malloc(size):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Allocates contiguous block. Uninitialized.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13440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135362"/>
            <a:ext cx="5086350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calloc(num, size):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Allocates array. Automatically zero-fills.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503949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504902"/>
            <a:ext cx="5086350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realloc(ptr, size):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Resizes an existing block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873490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874442"/>
            <a:ext cx="5086350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free(ptr):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Deallocates heap memory back to OS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72100" cy="24668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41995"/>
            <a:ext cx="5372100" cy="24668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94571"/>
            <a:ext cx="5372100" cy="2192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94571"/>
            <a:ext cx="5372100" cy="2192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Memory 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790676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Dynamically allocated heap blocks lose all pointer references without being explicitly freed. Exhausts system 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Dangling Pointers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90676"/>
            <a:ext cx="4781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Pointer continues referencing an address after it has been freed. Access causes unpredictable crashes.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Double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543252"/>
            <a:ext cx="4781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Executing free() twice on the same address corrupts internal heap structures, inviting exploits.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Wild Pointers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5543252"/>
            <a:ext cx="4781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Pointers declared without initialization containing arbitrary addresses. Always initialize to NULL.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775370"/>
            <a:ext cx="30480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775370"/>
            <a:ext cx="5048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527946"/>
            <a:ext cx="400050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527946"/>
            <a:ext cx="30480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Critical Memory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Pitfalls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441995"/>
            <a:ext cx="11029950" cy="336961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41995"/>
          <a:ext cx="11029949" cy="33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82763"/>
                <a:gridCol w="4006006"/>
                <a:gridCol w="4441180"/>
              </a:tblGrid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Property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Contiguous Array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Singly Linked 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Memory 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Contiguous block in memory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Non-contiguous scattered heap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Access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 Direct Indexing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Sequential Traversal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Insert/Delete (Start)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(requires element shifting)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 (simple pointer re-linking)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Insert/Delete (End)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amortized (if capacity exists)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without tail pointer; O(1) with tail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Memory Overhead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Zero extra pointers per element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Requires extra memory for pointer(s)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16323"/>
            <a:ext cx="25827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63788" y="2016323"/>
            <a:ext cx="4006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69794" y="2016323"/>
            <a:ext cx="44411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74428"/>
            <a:ext cx="25827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3788" y="2574428"/>
            <a:ext cx="4006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69794" y="2574428"/>
            <a:ext cx="44411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132534"/>
            <a:ext cx="25827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788" y="3132534"/>
            <a:ext cx="4006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69794" y="3132534"/>
            <a:ext cx="44411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690639"/>
            <a:ext cx="25827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3788" y="3690639"/>
            <a:ext cx="4006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69794" y="3690639"/>
            <a:ext cx="44411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248745"/>
            <a:ext cx="25827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63788" y="4248745"/>
            <a:ext cx="4006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69794" y="4248745"/>
            <a:ext cx="44411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Arrays vs.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Linked 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The Node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Unlike arrays, nodes are allocated individually on the heap and chained together via pointer links.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8731"/>
            <a:ext cx="4733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Data Field: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Holds the payload (e.g., integer).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2302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Next Pointer: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 reference holding the memory address of the subsequent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Self-Referential Struct 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 struct containing a pointer pointing to another struct of the identical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Node Structure &amp;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Self-Reference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1995"/>
            <a:ext cx="53244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441995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 linked list is referenced by a special pointer named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HEAD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, which stores the address of the initial node.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181076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Instantiating a dynamic node requires requesting heap memory, assigning data, and setting the next pointer to NULL.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451520"/>
            <a:ext cx="5305425" cy="4552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Dynamic Node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Instantiation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Sequential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Traversal visits each node sequentially, starting from HEAD, until reaching the end (NULL).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8731"/>
            <a:ext cx="4733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F4444"/>
                </a:solidFill>
                <a:latin typeface="Inter SemiBold"/>
              </a:rPr>
              <a:t>Critical 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23021"/>
            <a:ext cx="47339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Because altering the HEAD pointer causes loss of the entire list, traversal MUST always use an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auxiliary temporary pointer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List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Traversal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Insertion at HEAD </a:t>
            </a:r>
            <a:r>
              <a:rPr b="0" sz="2100" i="0" u="none">
                <a:solidFill>
                  <a:srgbClr val="10B981"/>
                </a:solidFill>
                <a:latin typeface="Poppins Medium"/>
              </a:rPr>
              <a:t>(O(1))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The new node's next pointer is set to current head address. Head pointer is re-assigned.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Insertion at TAIL </a:t>
            </a:r>
            <a:r>
              <a:rPr b="0" sz="2100" i="0" u="none">
                <a:solidFill>
                  <a:srgbClr val="EF4444"/>
                </a:solidFill>
                <a:latin typeface="Poppins Medium"/>
              </a:rPr>
              <a:t>(O(n))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Traverse to the final node (next == NULL), attach new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Insertion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Scenarios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3486150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441995"/>
            <a:ext cx="3486150" cy="4834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441995"/>
            <a:ext cx="3486150" cy="4834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Delete HEAD </a:t>
            </a:r>
            <a:r>
              <a:rPr b="0" sz="2100" i="0" u="none">
                <a:solidFill>
                  <a:srgbClr val="10B981"/>
                </a:solidFill>
                <a:latin typeface="Poppins Medium"/>
              </a:rPr>
              <a:t>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24026"/>
            <a:ext cx="2895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Store current HEAD in temporary pointer. Shift HEAD to HEAD-&gt;next. Issue free() on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Delete Target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2924026"/>
            <a:ext cx="28956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Traverse with two pointers (current &amp; prev). Unlink matching node from sequence before freeing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Delete TAIL </a:t>
            </a:r>
            <a:r>
              <a:rPr b="0" sz="2100" i="0" u="none">
                <a:solidFill>
                  <a:srgbClr val="EF4444"/>
                </a:solidFill>
                <a:latin typeface="Poppins Medium"/>
              </a:rP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2924026"/>
            <a:ext cx="2895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Traverse to second-to-last node. Free temp-&gt;next. Set temp-&gt;next = NULL.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775370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1775370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1775370"/>
            <a:ext cx="3524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Safe Node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Deletion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623220"/>
            <a:ext cx="8572500" cy="1310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05538" y="1638300"/>
            <a:ext cx="7380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6000" i="0" u="none">
                <a:solidFill>
                  <a:srgbClr val="0EA5E9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3800" y="2781300"/>
            <a:ext cx="47244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"/>
              </a:rPr>
              <a:t>Ready to unchain your memory constraints?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8350" y="3813720"/>
            <a:ext cx="815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EA5E9"/>
                </a:solidFill>
                <a:latin typeface="Inter SemiBold"/>
              </a:rPr>
              <a:t>Discussion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8350" y="4194720"/>
            <a:ext cx="8153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Why does node deletion in the middle of a linked list require an auxiliary 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prev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pointer in addition to the 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current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pointer during traversal?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8225" y="1822995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Cormen, T. H., Leiserson, C. E., Rivest, R. L., &amp; Stein, C. (2022).</a:t>
            </a:r>
            <a:r>
              <a:t>
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Introduction to Algorithms (4th ed.)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MIT Press. Chapter 10: Elementary Data Structures.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" y="2600176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Kernighan, B. W., &amp; Ritchie, D. M. (1988).</a:t>
            </a:r>
            <a:r>
              <a:t>
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The C Programming Language (2nd ed.)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Prentice Hall. Chapter 5: Pointers and Arrays.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3377356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Weiss, M. A. (2014).</a:t>
            </a:r>
            <a:r>
              <a:t>
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Data Structures and Algorithm Analysis in C++ (4th ed.)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Pearson. Chapter 3: Lists, Stacks, and Queues.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5157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8751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05931"/>
            <a:ext cx="20002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Core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441995"/>
            <a:ext cx="63436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26766"/>
            <a:ext cx="63436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217241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2217241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002012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002012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9141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1584870"/>
            <a:ext cx="52482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http://googleusercontent.com/image_collection/image_retrieval/1671580812311958761_0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1830585"/>
            <a:ext cx="52482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7618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2369641"/>
            <a:ext cx="52482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http://googleusercontent.com/image_collection/image_retrieval/11952116971872545259_0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2615356"/>
            <a:ext cx="52482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6096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3154412"/>
            <a:ext cx="52482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http://googleusercontent.com/image_collection/image_retrieval/6594879158731003910_0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400127"/>
            <a:ext cx="52482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" y="1441995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1025" y="2226766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172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2172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00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00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591419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400" y="1584870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https://images.stockcake.com/public/c/8/8/c88fcf21-6667-4951-8e38-c99c589f4252_large/neon-neural-networks-stockcake.jpg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183058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6189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2369641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https://media.easy-peasy.ai/172597de-9259-42e6-ba2d-069ad50a7ecf/c8c32d6b-4fde-4fe5-9e71-67ea405f5a26_medium.webp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2615356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6008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76400" y="3154412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https://www.udacity.com/_next/image?url=https%3A%2F%2Fvideo.udacity-data.com%2Ftopher%2F2024%2FOctober%2F670987a7_nd256%2Fnd256.jpg&amp;w=3840&amp;q=80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359821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www.udacity.com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