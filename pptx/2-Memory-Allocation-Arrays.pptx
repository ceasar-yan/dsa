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35392" y="2381250"/>
            <a:ext cx="9721215" cy="7314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1" sz="4800" i="0" u="none">
                <a:solidFill>
                  <a:srgbClr val="F8FAFC"/>
                </a:solidFill>
                <a:latin typeface="Poppins"/>
              </a:rPr>
              <a:t>Data Structures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81462" y="3303240"/>
            <a:ext cx="4029075" cy="48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b="0" sz="2400" i="0" u="none">
                <a:solidFill>
                  <a:srgbClr val="38BDF8"/>
                </a:solidFill>
                <a:latin typeface="Inter"/>
              </a:rPr>
              <a:t>Memory Allocation &amp; Arrays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8712" y="4171801"/>
            <a:ext cx="2314575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Module 2 | BSIT 2nd Year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1995"/>
            <a:ext cx="53244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441995"/>
            <a:ext cx="5590698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Mastering System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952476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Memory management is the cornerstone of computer programming, governing how storage is reserved, populated, and released during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2965846"/>
            <a:ext cx="51339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Allocation Strategies: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Analyze Stack versus Heap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1525" y="3666827"/>
            <a:ext cx="51339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Layout Constraints: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Explore physical mapping of single and multi-dimensional grids.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4367807"/>
            <a:ext cx="51339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Data Manipulations: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Design algorithmic operations like insertion, traversal, and advanced search algorithms.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451520"/>
            <a:ext cx="5305425" cy="4552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81025" y="2965846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666827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4367807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Lesson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38225" y="1441995"/>
            <a:ext cx="10572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LO1: Differentiate Memory Allocation Strategies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Analyze and compare static and dynamic memory allocation techniques in terms of lifetime, layout, system overhead, efficiency, and safety.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8225" y="2493466"/>
            <a:ext cx="10572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LO2: Compute Array Memory Addresses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Calculate exact physical memory locations for elements within single and multi-dimensional arrays using row-major and column-major mapping formulas.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" y="3544937"/>
            <a:ext cx="105727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Inter SemiBold"/>
              </a:rPr>
              <a:t>LO3: Implement and Analyze Fundamental Operations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Design, implement, and evaluate operations—including traversal, insertion, deletion, and searching—determining their algorithmic complexities.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70570"/>
            <a:ext cx="22860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522041"/>
            <a:ext cx="1714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573512"/>
            <a:ext cx="285750" cy="247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Learning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Objectives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72100" cy="24668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441995"/>
            <a:ext cx="5372100" cy="24668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94571"/>
            <a:ext cx="5372100" cy="24668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194571"/>
            <a:ext cx="5372100" cy="24668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318295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Code (Text) Segment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790676"/>
            <a:ext cx="4781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Contains the compiled executable binary instructions (machine code). Read-only to prevent execution modification.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318295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Data 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90676"/>
            <a:ext cx="4781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Stores global and static variables. Divided into Initialized Data and Uninitialized Data (BSS-like) segments.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070871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Stack Segment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543252"/>
            <a:ext cx="4781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Manages function call frames, local variables, and return addresses. Operates as a LIFO structure. Grows downwards.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5070871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Heap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5543252"/>
            <a:ext cx="4781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 pool of flexible memory, managed explicitly by the programmer (or garbage collector) for runtime allocation. Grows upwards.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775370"/>
            <a:ext cx="504825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1775370"/>
            <a:ext cx="3524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527946"/>
            <a:ext cx="447675" cy="400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4527946"/>
            <a:ext cx="352425" cy="400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Program Process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Memory Layout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24475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1995"/>
            <a:ext cx="5324475" cy="48349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Definition &amp; Placement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Occurs at compile-time when the exact memory requirement is determined before the program executes.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48731"/>
            <a:ext cx="473392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When fixed variables or static arrays are declared, memory is allocated on the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Stack frame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upon function entry and reclaimed when the function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Key Characteristics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2275" y="2209651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Fixed Lifetime &amp; Size: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Cannot expand or shrink during application runtime.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2275" y="2910631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Automatic Management: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Deallocation is handled automatically; immune to leaks.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72275" y="3611612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High Execution Speed: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Handled by simple CPU stack pointer adjustments.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2275" y="4312592"/>
            <a:ext cx="45434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Risk factor: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Allocating massive static arrays can trigger a Stack Overflow crash.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1775" y="2209651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1775" y="2910631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1775" y="3611612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1775" y="4312592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Static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Memory Allocation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Dynamic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Allocation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441995"/>
            <a:ext cx="5540692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Flexibility at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914376"/>
            <a:ext cx="52768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Dynamic Memory Allocation occurs during program execution. It allows a program to request custom quantities of memory from the OS Heap based on real-time needs (e.g., variable user inputs or network payloads).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3163937"/>
            <a:ext cx="52768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Because the exact memory requirements do not need to be hard-coded ahead of time, this paradigm provides immense architectural flexibility.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4291607"/>
            <a:ext cx="52768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Trade-off: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In C/C++, it strictly requires 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manual lifecycle management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, placing the burden of safety on the engineer.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441995"/>
            <a:ext cx="11029950" cy="2811512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441995"/>
          <a:ext cx="11029949" cy="2811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731764"/>
                <a:gridCol w="3821757"/>
                <a:gridCol w="3328243"/>
                <a:gridCol w="2148185"/>
              </a:tblGrid>
              <a:tr h="56230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Function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Core Purpose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Initialization State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Supports Resizing?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  <a:tr h="5623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malloc(size)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Allocates a single, contiguous block of bytes.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Uninitialized (Contains garbage values)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23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calloc(num, size)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Allocates memory for an array of elements.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0B981"/>
                          </a:solidFill>
                          <a:latin typeface="Inter"/>
                        </a:rPr>
                        <a:t>Zero-initialized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EF4444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23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realloc(ptr, size)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Resizes a previously allocated heap block.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Retains old data in the block.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10B981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2304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free(ptr)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Deallocates memory back to the system pool.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N/A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016323"/>
            <a:ext cx="17317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12789" y="2016323"/>
            <a:ext cx="3821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34546" y="2016323"/>
            <a:ext cx="3328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462789" y="2016323"/>
            <a:ext cx="21481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574428"/>
            <a:ext cx="17317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12789" y="2574428"/>
            <a:ext cx="3821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34546" y="2574428"/>
            <a:ext cx="3328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462789" y="2574428"/>
            <a:ext cx="21481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132534"/>
            <a:ext cx="17317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12789" y="3132534"/>
            <a:ext cx="3821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34546" y="3132534"/>
            <a:ext cx="3328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462789" y="3132534"/>
            <a:ext cx="21481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3690639"/>
            <a:ext cx="173176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312789" y="3690639"/>
            <a:ext cx="382175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4546" y="3690639"/>
            <a:ext cx="332824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462789" y="3690639"/>
            <a:ext cx="214818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Standard Library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Functions (C)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72100" cy="24668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441995"/>
            <a:ext cx="5372100" cy="24668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194571"/>
            <a:ext cx="5372100" cy="246682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4194571"/>
            <a:ext cx="5372100" cy="24668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2318295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Memory Leaks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790676"/>
            <a:ext cx="4781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Occurs when dynamically allocated memory is no longer referenced but never released using free(). Eventually exhausts system RAM.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318295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Dangling Pointers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4150" y="2790676"/>
            <a:ext cx="4781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When a pointer continues to reference an address already deallocated. Dereferencing it causes undefined behavior or crashes.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5070871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Double Free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543252"/>
            <a:ext cx="478155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Attempting to call free() twice on the same memory address. Corrupts heap metadata and invites severe security exploits.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5070871"/>
            <a:ext cx="5020627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F8FAFC"/>
                </a:solidFill>
                <a:latin typeface="Poppins Medium"/>
              </a:rPr>
              <a:t>Null Dereference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5543252"/>
            <a:ext cx="478155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Failing to verify if malloc() returned NULL before reading/writing. Causes an immediate segmentation fault.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6300" y="1775370"/>
            <a:ext cx="304800" cy="4000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4150" y="1775370"/>
            <a:ext cx="504825" cy="4000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4527946"/>
            <a:ext cx="400050" cy="400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4150" y="4527946"/>
            <a:ext cx="400050" cy="4000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Dynamic Memory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Vulnerabilities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267622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647" y="1441995"/>
            <a:ext cx="5381327" cy="48349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922" y="2910631"/>
            <a:ext cx="4790777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1737270"/>
            <a:ext cx="4910926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Linear Collections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209651"/>
            <a:ext cx="4677072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An array is a fixed-size, ordered collection of homogeneous data elements.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948731"/>
            <a:ext cx="4677072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The defining characteristic is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contiguity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: subsequent elements are stored directly adjacent to predecessors without memory gaps. This predictability is highly efficient for CPU cache architectures.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922" y="1737270"/>
            <a:ext cx="5030316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Address Calculation Formula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922" y="2209651"/>
            <a:ext cx="4790777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Because spacing is uniform, the CPU calculates exact physical addresses instantly via pointer math: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922" y="3672631"/>
            <a:ext cx="4790777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This strict mathematical relationship guarantees 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True Constant Time Access O(1)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for any index.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947" y="3110656"/>
            <a:ext cx="4390727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Arrays &amp;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Physical Contiguity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441995"/>
            <a:ext cx="5324475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1441995"/>
            <a:ext cx="53244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A 2D array is visualized as a matrix (Rows &amp; Columns), but physical computer hardware memory is strictly 1-Dimensional. Multi-dimensional data must be "flattened".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1525" y="2455366"/>
            <a:ext cx="51339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Row-Major Order (RMO):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Elements are stored row by row sequentially. (Standard in C, C++, Java, Python).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3430637"/>
            <a:ext cx="51339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CBD5E1"/>
                </a:solidFill>
                <a:latin typeface="Inter"/>
              </a:rPr>
              <a:t>Column-Major Order (CMO):</a:t>
            </a:r>
            <a:r>
              <a:t>
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Elements are stored column by column sequentially. (Standard in Fortran, MATLAB, R).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451520"/>
            <a:ext cx="5305425" cy="4552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2455366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3430637"/>
            <a:ext cx="76200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1" sz="1350" i="0" u="none">
                <a:solidFill>
                  <a:srgbClr val="0EA5E9"/>
                </a:solidFill>
                <a:latin typeface="Inter"/>
              </a:rPr>
              <a:t>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Multi-Dimensional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Grids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5324475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41995"/>
            <a:ext cx="5324475" cy="48349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2910631"/>
            <a:ext cx="4733925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910631"/>
            <a:ext cx="4733925" cy="609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300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Row-Major Translation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Calculates the absolute 1D memory offset for an element at row 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r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and column 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c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76788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CBD5E1"/>
                </a:solidFill>
                <a:latin typeface="Inter"/>
              </a:rPr>
              <a:t>Where C = Total number of columns, and S = Element byte size.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1737270"/>
            <a:ext cx="4970621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Column-Major Translation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220965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Calculates the offset prioritizing column-depth before row-width: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1775" y="3767881"/>
            <a:ext cx="473392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1" u="none">
                <a:solidFill>
                  <a:srgbClr val="CBD5E1"/>
                </a:solidFill>
                <a:latin typeface="Inter"/>
              </a:rPr>
              <a:t>Where R = Total number of rows, and S = Element byte size.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3636" y="3110656"/>
            <a:ext cx="4019252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9111" y="3110656"/>
            <a:ext cx="4019252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2D Array Mapping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Formulas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41995"/>
            <a:ext cx="3486150" cy="4834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1441995"/>
            <a:ext cx="3486150" cy="48349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1441995"/>
            <a:ext cx="3486150" cy="48349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2451645"/>
            <a:ext cx="304038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Traversal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24026"/>
            <a:ext cx="28956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Visiting every element sequentially exactly once to process data (e.g., sum, print).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Complexity: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Time O(N).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2451645"/>
            <a:ext cx="304038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Insertion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2924026"/>
            <a:ext cx="2895600" cy="16457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Placing an element inside an array. To maintain contiguity, trailing elements must be shifted rightward.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Worst Case: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O(N).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2451645"/>
            <a:ext cx="3040380" cy="319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2100" i="0" u="none">
                <a:solidFill>
                  <a:srgbClr val="38BDF8"/>
                </a:solidFill>
                <a:latin typeface="Poppins Medium"/>
              </a:rPr>
              <a:t>Deletion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2924026"/>
            <a:ext cx="2895600" cy="13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Removing an element. Right-side elements must shift leftward to fill the newly created memory void.</a:t>
            </a:r>
            <a:r>
              <a:t>
</a:t>
            </a:r>
            <a:r>
              <a:t>
</a:t>
            </a:r>
            <a:r>
              <a:rPr b="1" sz="1350" i="0" u="none">
                <a:solidFill>
                  <a:srgbClr val="CBD5E1"/>
                </a:solidFill>
                <a:latin typeface="Inter"/>
              </a:rPr>
              <a:t>Worst Case: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 O(N).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1775370"/>
            <a:ext cx="352425" cy="4000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1775370"/>
            <a:ext cx="342900" cy="4000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1775370"/>
            <a:ext cx="342900" cy="4000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Fundamental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441995"/>
            <a:ext cx="11029950" cy="3369617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441995"/>
          <a:ext cx="11029948" cy="33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656879"/>
                <a:gridCol w="4107507"/>
                <a:gridCol w="4265562"/>
              </a:tblGrid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Linear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Binary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Pre-condition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None (Works on unsorted data)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Array MUST be strictly sorted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Algorithm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Sequential Scan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Divide and Conquer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Best-Case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 - Found at index 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 - Found at midpoint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Worst-Case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 - Linear scaling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O(log N) - Logarithmic scaling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Space Complexity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 Auxiliary Space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 Iterative, O(log N) Recursive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016323"/>
            <a:ext cx="2656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37904" y="2016323"/>
            <a:ext cx="41075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45412" y="2016323"/>
            <a:ext cx="4265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2574428"/>
            <a:ext cx="2656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37904" y="2574428"/>
            <a:ext cx="41075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45412" y="2574428"/>
            <a:ext cx="4265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3132534"/>
            <a:ext cx="2656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37904" y="3132534"/>
            <a:ext cx="41075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45412" y="3132534"/>
            <a:ext cx="4265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3690639"/>
            <a:ext cx="2656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37904" y="3690639"/>
            <a:ext cx="41075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45412" y="3690639"/>
            <a:ext cx="4265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4248745"/>
            <a:ext cx="265687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37904" y="4248745"/>
            <a:ext cx="4107507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45412" y="4248745"/>
            <a:ext cx="4265562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Search: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Linear vs Binary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1441995"/>
            <a:ext cx="11029950" cy="3369617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441995"/>
          <a:ext cx="11029949" cy="3369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785616"/>
                <a:gridCol w="2672953"/>
                <a:gridCol w="2883991"/>
                <a:gridCol w="2687389"/>
              </a:tblGrid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Array Operation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Best Case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Worst Case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0F172A"/>
                          </a:solidFill>
                          <a:latin typeface="Poppins SemiBold"/>
                        </a:rPr>
                        <a:t>Auxiliary Space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A5E9"/>
                    </a:solidFill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Traversal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Insertion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 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(at end)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 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(at index 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Deletion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 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(at end)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 </a:t>
                      </a:r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(at index 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2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Linear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6160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CBD5E1"/>
                          </a:solidFill>
                          <a:latin typeface="Inter"/>
                        </a:rPr>
                        <a:t>Binary Search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O(log 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CBD5E1"/>
                          </a:solidFill>
                          <a:latin typeface="Inter"/>
                        </a:rPr>
                        <a:t>O(1) Iterative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016323"/>
            <a:ext cx="27856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366641" y="2016323"/>
            <a:ext cx="26729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9594" y="2016323"/>
            <a:ext cx="28839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23585" y="2016323"/>
            <a:ext cx="268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2574428"/>
            <a:ext cx="27856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66641" y="2574428"/>
            <a:ext cx="26729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9594" y="2574428"/>
            <a:ext cx="28839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23585" y="2574428"/>
            <a:ext cx="268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3132534"/>
            <a:ext cx="27856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6641" y="3132534"/>
            <a:ext cx="26729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9594" y="3132534"/>
            <a:ext cx="28839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23585" y="3132534"/>
            <a:ext cx="268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1025" y="3690639"/>
            <a:ext cx="27856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66641" y="3690639"/>
            <a:ext cx="26729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9594" y="3690639"/>
            <a:ext cx="28839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23585" y="3690639"/>
            <a:ext cx="268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1025" y="4248745"/>
            <a:ext cx="2785616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66641" y="4248745"/>
            <a:ext cx="267295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9594" y="4248745"/>
            <a:ext cx="28839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23585" y="4248745"/>
            <a:ext cx="2687389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Algorithmic </a:t>
            </a:r>
            <a:r>
              <a:rPr b="0" sz="3150" i="0" u="none">
                <a:solidFill>
                  <a:srgbClr val="0EA5E9"/>
                </a:solidFill>
                <a:latin typeface="Poppins SemiBold"/>
              </a:rPr>
              <a:t>Complexity Summary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2499419"/>
            <a:ext cx="8572500" cy="1310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05538" y="514498"/>
            <a:ext cx="738092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b="1" sz="6000" i="0" u="none">
                <a:solidFill>
                  <a:srgbClr val="0EA5E9"/>
                </a:solidFill>
                <a:latin typeface="Poppins"/>
              </a:rPr>
              <a:t>Knowledge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7050" y="1657498"/>
            <a:ext cx="60579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F8FAFC"/>
                </a:solidFill>
                <a:latin typeface="Inter"/>
              </a:rPr>
              <a:t>Are you ready to optimize system memory architecture?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38350" y="2689919"/>
            <a:ext cx="81534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0EA5E9"/>
                </a:solidFill>
                <a:latin typeface="Inter SemiBold"/>
              </a:rPr>
              <a:t>Discussion Prompt: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38350" y="3070919"/>
            <a:ext cx="8153400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E2E8F0"/>
                </a:solidFill>
                <a:latin typeface="Inter"/>
              </a:rPr>
              <a:t>If you dynamically allocate a 2D array and forget to free the inner row pointers before freeing the main pointer table, what specific vulnerability is introduced into the system?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86250"/>
            <a:ext cx="762000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b="0" sz="1200" i="0" u="none">
                <a:solidFill>
                  <a:srgbClr val="94A3B8"/>
                </a:solidFill>
                <a:latin typeface="Inter"/>
              </a:rPr>
              <a:t>Core References: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4644330"/>
            <a:ext cx="7162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Cormen et al. (2022). 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Introduction to Algorithms (4th ed.)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. MIT Press.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5147220"/>
            <a:ext cx="7162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Goodrich et al. (2011). 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Data Structures and Algorithms in C++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. Wiley.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650110"/>
            <a:ext cx="71628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CBD5E1"/>
                </a:solidFill>
                <a:latin typeface="Inter"/>
              </a:rPr>
              <a:t>Kernighan &amp; Ritchie (1988). </a:t>
            </a:r>
            <a:r>
              <a:rPr b="0" sz="1350" i="1" u="none">
                <a:solidFill>
                  <a:srgbClr val="CBD5E1"/>
                </a:solidFill>
                <a:latin typeface="Inter"/>
              </a:rPr>
              <a:t>The C Programming Language</a:t>
            </a:r>
            <a:r>
              <a:rPr b="0" sz="1350" i="0" u="none">
                <a:solidFill>
                  <a:srgbClr val="CBD5E1"/>
                </a:solidFill>
                <a:latin typeface="Inter"/>
              </a:rPr>
              <a:t>. Prentice Hall.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81025" y="1441995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81025" y="2226766"/>
            <a:ext cx="11029950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81025" y="22172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1025" y="22172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30020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0020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591419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76400" y="1584870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https://as1.ftcdn.net/v2/jpg/19/82/69/38/1000_F_1982693831_SllVsw1YG3LKUs6mU7XWz0dUk61eqYE0.jpg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6400" y="1830585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www.videezy.com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76189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676400" y="2369641"/>
            <a:ext cx="9934575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https://media.craiyon.com/2025-10-15/mbZ4BikDTsyEeUh_uSROaw.webp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76400" y="2615356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www.craiyon.com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260080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76400" y="3154412"/>
            <a:ext cx="9934575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CBD5E1"/>
                </a:solidFill>
                <a:latin typeface="Inter"/>
              </a:rPr>
              <a:t>https://images.squarespace-cdn.com/content/v1/647f71644da23c460898dc9f/d10c247c-97e6-4238-b18d-f91609979251/twelve-dimensional-bands-holographic-consciousness-mandala-min.jpg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6400" y="3598217"/>
            <a:ext cx="9934575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www.ultra-unlimited.com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1025" y="581025"/>
            <a:ext cx="11581447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b="0" sz="3150" i="0" u="none">
                <a:solidFill>
                  <a:srgbClr val="F8FAFC"/>
                </a:solidFill>
                <a:latin typeface="Poppins SemiBold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